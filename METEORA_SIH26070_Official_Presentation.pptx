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</a:defRPr>
            </a:pPr>
            <a:r>
              <a:t>SMART INDIA HACKATHON 2026 — OFFICIAL IDEA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540"/>
                </a:solidFill>
              </a:defRPr>
            </a:pPr>
            <a:r>
              <a:t>METEORA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PREDICT · PREPARE · PROTECT  |  An Explainable Deep Learning System for Cyclone Pattern Identification, Intensity Estimation &amp; Landfall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2120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PROBLEM STATEMENT SPECIFICATION</a:t>
            </a:r>
          </a:p>
          <a:p>
            <a:pPr>
              <a:spcBef>
                <a:spcPts val="800"/>
              </a:spcBef>
              <a:defRPr sz="1000" b="1">
                <a:solidFill>
                  <a:srgbClr val="0066CC"/>
                </a:solidFill>
              </a:defRPr>
            </a:pPr>
            <a:r>
              <a:t>Problem Statement ID: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SIH26070  (S.No. 70)</a:t>
            </a:r>
          </a:p>
          <a:p>
            <a:pPr>
              <a:spcBef>
                <a:spcPts val="800"/>
              </a:spcBef>
              <a:defRPr sz="1000" b="1">
                <a:solidFill>
                  <a:srgbClr val="0066CC"/>
                </a:solidFill>
              </a:defRPr>
            </a:pPr>
            <a:r>
              <a:t>Ministry / Org: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Ministry of Earth Sciences (MoES)</a:t>
            </a:r>
          </a:p>
          <a:p>
            <a:pPr>
              <a:spcBef>
                <a:spcPts val="800"/>
              </a:spcBef>
              <a:defRPr sz="1000" b="1">
                <a:solidFill>
                  <a:srgbClr val="0066CC"/>
                </a:solidFill>
              </a:defRPr>
            </a:pPr>
            <a:r>
              <a:t>Department: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India Meteorological Department (IMD)</a:t>
            </a:r>
          </a:p>
          <a:p>
            <a:pPr>
              <a:spcBef>
                <a:spcPts val="800"/>
              </a:spcBef>
              <a:defRPr sz="1000" b="1">
                <a:solidFill>
                  <a:srgbClr val="0066CC"/>
                </a:solidFill>
              </a:defRPr>
            </a:pPr>
            <a:r>
              <a:t>Category &amp; Theme: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Software  |  Disaster Management</a:t>
            </a:r>
          </a:p>
          <a:p>
            <a:pPr>
              <a:spcBef>
                <a:spcPts val="800"/>
              </a:spcBef>
              <a:defRPr sz="1000" b="1">
                <a:solidFill>
                  <a:srgbClr val="0066CC"/>
                </a:solidFill>
              </a:defRPr>
            </a:pPr>
            <a:r>
              <a:t>Official PS Title: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To develop an Artificial Intelligence (AI) / Machine Learning (ML) based system for identification, classification, and prediction of different tropical cyclone patterns using multi-source satellite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52120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200" b="1">
                <a:solidFill>
                  <a:srgbClr val="0A2540"/>
                </a:solidFill>
              </a:defRPr>
            </a:pPr>
            <a:r>
              <a:t>TEAM &amp; INSTITUTIONAL PROFILE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Team Name &amp; ID: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NEXORA  |  SIH2026-NEXORA-70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Team Leader: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Adarsh (Lead AI Architect &amp; Systems Integrator)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Team Composition: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6 Members (Full Compliance with 1+ Female Member Mandatory Rule)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Key Functional Roles: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Member 1 (Female): AI Data &amp; Remote Sensing Pipeline</a:t>
            </a:r>
            <a:br/>
            <a:r>
              <a:t>• Member 2: PyTorch Model Engineer (YOLO-v8 / DvorakNet)</a:t>
            </a:r>
            <a:br/>
            <a:r>
              <a:t>• Member 3: Django REST Backend &amp; Radiometric Engine</a:t>
            </a:r>
            <a:br/>
            <a:r>
              <a:t>• Member 4: React Vite &amp; Esri GIS Frontend Specialist</a:t>
            </a:r>
            <a:br/>
            <a:r>
              <a:t>• Member 5: Storm Surge &amp; Inundation Modeler</a:t>
            </a:r>
            <a:br/>
            <a:r>
              <a:t>• Member 6: Offline PWA &amp; Cloud Deployment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Academic Institution: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Affiliated Technical University / Institute Node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6CC"/>
                </a:solidFill>
              </a:defRPr>
            </a:pPr>
            <a:r>
              <a:t>CHALLENGE VS.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</a:defRPr>
            </a:pPr>
            <a:r>
              <a:t>Problem &amp; Proposed Solution: Transforming Cyclone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2/6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E11D48"/>
                </a:solidFill>
              </a:defRPr>
            </a:pPr>
            <a:r>
              <a:t>THE PROBLEM: CRITICAL OPERATIONAL GAPS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1. Manual &amp; Subjective Dvorak Analysis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Synoptic forecasters take 20-30+ minutes per satellite frame to manually trace cloud bands. High subjectivity during Rapid Intensification (RI) leads to estimation lags.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2. Complex Cloud Structural Ambiguity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Differentiating Curved Band vs. Shear vs. Central Dense Overcast (CDO) is difficult during cloud-top temperature oscillations and cirrus obscuration.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3. Disconnect Between Wind Speed &amp; Coastal Hazard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Traditional bulletins report central pressure and knot speed, which does not provide district authorities with localized storm surge inundation heights or arrival ETAs in hours.</a:t>
            </a:r>
          </a:p>
          <a:p>
            <a:pPr>
              <a:spcBef>
                <a:spcPts val="800"/>
              </a:spcBef>
              <a:defRPr sz="1050" b="1">
                <a:solidFill>
                  <a:srgbClr val="0F172A"/>
                </a:solidFill>
              </a:defRPr>
            </a:pPr>
            <a:r>
              <a:t>4. Last-Mile Dissemination &amp; Language Barrier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Technical isobaric warnings take hours to reach coastal communities and lack automated, offline-first vernacular translation for rural coastal populations.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OUR SOLUTION: METEORA AI ECOSYSTEM</a:t>
            </a:r>
          </a:p>
          <a:p>
            <a:pPr>
              <a:spcBef>
                <a:spcPts val="800"/>
              </a:spcBef>
              <a:defRPr sz="1050" b="1">
                <a:solidFill>
                  <a:srgbClr val="0A2540"/>
                </a:solidFill>
              </a:defRPr>
            </a:pPr>
            <a:r>
              <a:t>1. Automated ISRO MOSDAC Radiometric Engine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Native HDF5 ingestion client (mdapi.py) converts raw 10-bit digital counts to Radiometric Brightness Temp (Tb in °C) in &lt;1.5s, enabling sub-minute automated cycles.</a:t>
            </a:r>
          </a:p>
          <a:p>
            <a:pPr>
              <a:spcBef>
                <a:spcPts val="800"/>
              </a:spcBef>
              <a:defRPr sz="1050" b="1">
                <a:solidFill>
                  <a:srgbClr val="0A2540"/>
                </a:solidFill>
              </a:defRPr>
            </a:pPr>
            <a:r>
              <a:t>2. Dual-Stage Neural Vision Architecture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Stage 1: YOLO-v8 detects Eye Center (94.2%), Eyewall (91.7%), CDO (95.1%), and Rainbands. Stage 2: DvorakNet (ResNet-34) regresses T-number, Central Pressure &amp; Knots.</a:t>
            </a:r>
          </a:p>
          <a:p>
            <a:pPr>
              <a:spcBef>
                <a:spcPts val="800"/>
              </a:spcBef>
              <a:defRPr sz="1050" b="1">
                <a:solidFill>
                  <a:srgbClr val="0A2540"/>
                </a:solidFill>
              </a:defRPr>
            </a:pPr>
            <a:r>
              <a:t>3. City Landfall Danger &amp; Surge Predictor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Haversine distance decay engine calculates arrival ETAs in hours, storm surge height (m), and computes 0-100 Danger Scores for Puri, Paradip, Digha, Balasore, Kolkata, etc.</a:t>
            </a:r>
          </a:p>
          <a:p>
            <a:pPr>
              <a:spcBef>
                <a:spcPts val="800"/>
              </a:spcBef>
              <a:defRPr sz="1050" b="1">
                <a:solidFill>
                  <a:srgbClr val="0A2540"/>
                </a:solidFill>
              </a:defRPr>
            </a:pPr>
            <a:r>
              <a:t>4. Resilient Dual-Portal &amp; Multilingual PWA</a:t>
            </a:r>
          </a:p>
          <a:p>
            <a:pPr>
              <a:defRPr sz="900">
                <a:solidFill>
                  <a:srgbClr val="0F172A"/>
                </a:solidFill>
              </a:defRPr>
            </a:pPr>
            <a:r>
              <a:t>Dedicated GIS Command Hub for IMD/NDRF plus an ultra-lightweight (&lt;20KB) offline-cached PWA delivering alerts in Hindi, Odia, Bengali, and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6CC"/>
                </a:solidFill>
              </a:defRPr>
            </a:pPr>
            <a:r>
              <a:t>ENGINEERING &amp; NEURAL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</a:defRPr>
            </a:pPr>
            <a:r>
              <a:t>System Architecture &amp; Execution Pipeline: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3/6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1460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0066CC"/>
                </a:solidFill>
              </a:defRPr>
            </a:pPr>
            <a:r>
              <a:t>1. SATELLITE INGESTION</a:t>
            </a:r>
          </a:p>
          <a:p>
            <a:pPr>
              <a:spcBef>
                <a:spcPts val="300"/>
              </a:spcBef>
              <a:defRPr sz="1150" b="1">
                <a:solidFill>
                  <a:srgbClr val="0A2540"/>
                </a:solidFill>
              </a:defRPr>
            </a:pPr>
            <a:r>
              <a:t>MOSDAC HDF5 Engine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ISRO MOSDAC API (mdapi.py)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INSAT-3D / 3R / 3DS L1B/1C .h5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Multi-spectral: TIR-1 (10.8µm), TIR-2 (12.0µm), Water Vapour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Modular polar-orbiting scatterometer (Oceansat-3)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1460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2. RADIOMETRIC PREPROCESS</a:t>
            </a:r>
          </a:p>
          <a:p>
            <a:pPr>
              <a:spcBef>
                <a:spcPts val="300"/>
              </a:spcBef>
              <a:defRPr sz="1150" b="1">
                <a:solidFill>
                  <a:srgbClr val="0A2540"/>
                </a:solidFill>
              </a:defRPr>
            </a:pPr>
            <a:r>
              <a:t>Physics-Safe Calibration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10-bit raw DN -&gt; Brightness Temp (Tb in °C / Kelvin)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128x128 storm-centered crop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Coriolis-safe rotation (±30°)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Omits horizontal/vertical flips to preserve Northern cyclonic spin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251460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0A2540"/>
                </a:solidFill>
              </a:defRPr>
            </a:pPr>
            <a:r>
              <a:t>3. AI / ML CORE ENGINE</a:t>
            </a:r>
          </a:p>
          <a:p>
            <a:pPr>
              <a:spcBef>
                <a:spcPts val="300"/>
              </a:spcBef>
              <a:defRPr sz="1150" b="1">
                <a:solidFill>
                  <a:srgbClr val="0A2540"/>
                </a:solidFill>
              </a:defRPr>
            </a:pPr>
            <a:r>
              <a:t>Two-Stage Framework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YOLO-v8: Identifies Eye (94.2%), Eyewall, CDO, and Spiral Bands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DvorakNet (ResNet-34): Multi-task regression for T-No, P_min, Wind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Joint Focal + Huber Loss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Grad-CAM Layer-4 XAI heatmaps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463040"/>
            <a:ext cx="2514600" cy="3291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4. DISASTER DISSEMINATION</a:t>
            </a:r>
          </a:p>
          <a:p>
            <a:pPr>
              <a:spcBef>
                <a:spcPts val="300"/>
              </a:spcBef>
              <a:defRPr sz="1150" b="1">
                <a:solidFill>
                  <a:srgbClr val="0A2540"/>
                </a:solidFill>
              </a:defRPr>
            </a:pPr>
            <a:r>
              <a:t>City Impact &amp; Alerts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City Landfall Arrival ETA (hrs)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Storm Surge height (meters)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Cosine historical analogue matching (Amphan, Fani, Biparjoy)</a:t>
            </a:r>
          </a:p>
          <a:p>
            <a:pPr>
              <a:spcBef>
                <a:spcPts val="500"/>
              </a:spcBef>
              <a:defRPr sz="880">
                <a:solidFill>
                  <a:srgbClr val="0F172A"/>
                </a:solidFill>
              </a:defRPr>
            </a:pPr>
            <a:r>
              <a:t>• Dual-Portal: NDRF Command Desk &amp; Multilingual Citizen PWA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ENTERPRISE &amp; RESEARCH TECHNOLOGY STACK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</a:defRPr>
            </a:pPr>
            <a:r>
              <a:t>AI / ML Frameworks: PyTorch 2.x, YOLO-v8 (Ultralytics), torchvision, timm, scikit-learn, ONNX Runtime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</a:defRPr>
            </a:pPr>
            <a:r>
              <a:t>Remote Sensing &amp; GIS: H5py (HDF5 parsing), GDAL, GeoPandas, xarray, NetCDF4, OpenCV, Esri Dark Basemaps, Leaflet.js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</a:defRPr>
            </a:pPr>
            <a:r>
              <a:t>Backend &amp; Ingestion: Python 3.10+, Django REST Framework, Celery / Redis Queue, NumPy, Matplotlib base64 rendering</a:t>
            </a:r>
          </a:p>
          <a:p>
            <a:pPr>
              <a:spcBef>
                <a:spcPts val="300"/>
              </a:spcBef>
              <a:defRPr sz="919">
                <a:solidFill>
                  <a:srgbClr val="475569"/>
                </a:solidFill>
              </a:defRPr>
            </a:pPr>
            <a:r>
              <a:t>Frontend &amp; Edge PWA: React 18 (Vite), TailwindCSS, Chart.js, Recharts, Progressive Web App (PWA) Offline ServiceWorkers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6CC"/>
                </a:solidFill>
              </a:defRPr>
            </a:pPr>
            <a:r>
              <a:t>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</a:defRPr>
            </a:pPr>
            <a:r>
              <a:t>Feasibility, Viability &amp; Unique Selling Propositions (USP)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4/6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TECHNICAL FEASIBILITY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Ultra-fast sub-second inference: &lt;1.5s per frame on standard GPUs or edge nodes.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Compact deployment: Checkpoint weights &lt;95MB (YOLO-v8 + ResNet-34).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Direct HDF5 ingestion without third-party conversions or heavy pre-rendering.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OPERATIONAL VIABILITY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Non-invasive Decision Support: Directly fits into IMD's existing synoptic routine.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Eliminates black-box skepticism: Layer-4 Grad-CAM heatmaps verify eyewall gradients.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Offline resilience: Local caching &amp; &lt;20KB GeoJSON payloads resist coastal cell blackouts.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ECONOMIC &amp; SCALING VIABILITY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Zero proprietary licensing fees: Built 100% on open-source ML and web ecosystems.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Low operating cost: Can run state-wide disaster nodes for under ₹15,000/month.</a:t>
            </a:r>
          </a:p>
          <a:p>
            <a:pPr>
              <a:spcBef>
                <a:spcPts val="500"/>
              </a:spcBef>
              <a:defRPr sz="900">
                <a:solidFill>
                  <a:srgbClr val="0F172A"/>
                </a:solidFill>
              </a:defRPr>
            </a:pPr>
            <a:r>
              <a:t>• Instant scaling across all 13 Indian coastal states and union territories.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728655" cy="237744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300" b="1">
                <a:solidFill>
                  <a:srgbClr val="0A2540"/>
                </a:solidFill>
              </a:defRPr>
            </a:pPr>
            <a:r>
              <a:t>CORE UNIQUE SELLING PROPOSITIONS (USP) OF METEORA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1. Native ISRO MOSDAC Integration: </a:t>
            </a:r>
            <a:r>
              <a:rPr b="0">
                <a:solidFill>
                  <a:srgbClr val="0F172A"/>
                </a:solidFill>
              </a:rPr>
              <a:t>Direct automated token authentication &amp; L1B/1C HDF5 radiometric parsing — not reliant on static scraped images.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2. Physics-Preserving AI Augmentation: </a:t>
            </a:r>
            <a:r>
              <a:rPr b="0">
                <a:solidFill>
                  <a:srgbClr val="0F172A"/>
                </a:solidFill>
              </a:rPr>
              <a:t>Strictly prohibits horizontal/vertical flips during training to preserve Northern Hemisphere Coriolis counter-clockwise rotation.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3. City-Level Danger Scoring &amp; Surge Inundation: </a:t>
            </a:r>
            <a:r>
              <a:rPr b="0">
                <a:solidFill>
                  <a:srgbClr val="0F172A"/>
                </a:solidFill>
              </a:rPr>
              <a:t>Translates abstract isobaric and knot parameters into actionable coastal city landfall arrival ETAs and surge heights in meters.</a:t>
            </a:r>
          </a:p>
          <a:p>
            <a:pPr>
              <a:spcBef>
                <a:spcPts val="600"/>
              </a:spcBef>
              <a:defRPr sz="1000" b="1">
                <a:solidFill>
                  <a:srgbClr val="0066CC"/>
                </a:solidFill>
              </a:defRPr>
            </a:pPr>
            <a:r>
              <a:t>4. Cryptographic Dual-Portal Isolation: </a:t>
            </a:r>
            <a:r>
              <a:rPr b="0">
                <a:solidFill>
                  <a:srgbClr val="0F172A"/>
                </a:solidFill>
              </a:rPr>
              <a:t>Distinct specialized interfaces: high-density GIS Command Suite for NDRF/SDMA and ultra-light multilingual PWA for rural citizens.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6CC"/>
                </a:solidFill>
              </a:defRPr>
            </a:pPr>
            <a:r>
              <a:t>EMPIRICAL IMPACT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</a:defRPr>
            </a:pPr>
            <a:r>
              <a:t>Impact &amp; Benefits: 5-Year Empirical Cyclone Loss Audit vs. METEORA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5/6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HISTORICAL 5-YEAR CYCLONE LOSS AUDIT (2020 – 2024 IN NORTH INDIAN OCEAN BASIN)</a:t>
            </a:r>
          </a:p>
          <a:p>
            <a:pPr>
              <a:spcBef>
                <a:spcPts val="350"/>
              </a:spcBef>
              <a:defRPr sz="919">
                <a:solidFill>
                  <a:srgbClr val="0F172A"/>
                </a:solidFill>
              </a:defRPr>
            </a:pPr>
            <a:r>
              <a:t>• Cyclone AMPHAN (2020) | Super Cyclone (WB): ₹1,02,000 Cr ($13.8B loss), 128 deaths. RI unflagged in 18 hrs; 5m unexpected surge breached Sundarbans.</a:t>
            </a:r>
          </a:p>
          <a:p>
            <a:pPr>
              <a:spcBef>
                <a:spcPts val="350"/>
              </a:spcBef>
              <a:defRPr sz="919">
                <a:solidFill>
                  <a:srgbClr val="0F172A"/>
                </a:solidFill>
              </a:defRPr>
            </a:pPr>
            <a:r>
              <a:t>• Cyclone TAUKTAE (2021) | ESCS (Arabian Sea): ₹15,000 Cr ($2.1B loss), 174 fatalities. Sudden offshore intensification led to Barge P305 tragedy.</a:t>
            </a:r>
          </a:p>
          <a:p>
            <a:pPr>
              <a:spcBef>
                <a:spcPts val="350"/>
              </a:spcBef>
              <a:defRPr sz="919">
                <a:solidFill>
                  <a:srgbClr val="0F172A"/>
                </a:solidFill>
              </a:defRPr>
            </a:pPr>
            <a:r>
              <a:t>• Cyclone YAAS (2021) | VSCS (Odisha/WB): ₹20,000 Cr ($2.8B loss). 100+ river embankments breached; massive saline agricultural ruin.</a:t>
            </a:r>
          </a:p>
          <a:p>
            <a:pPr>
              <a:spcBef>
                <a:spcPts val="350"/>
              </a:spcBef>
              <a:defRPr sz="919">
                <a:solidFill>
                  <a:srgbClr val="0F172A"/>
                </a:solidFill>
              </a:defRPr>
            </a:pPr>
            <a:r>
              <a:t>• Cyclone BIPARJOY (2023) &amp; DANA (2024) | ESCS/SCS (Gujarat/Odisha): ₹2,500+ Cr damage; power grid blackout across 5,000+ coastal villages.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212080" cy="17373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50" b="1">
                <a:solidFill>
                  <a:srgbClr val="E11D48"/>
                </a:solidFill>
              </a:defRPr>
            </a:pPr>
            <a:r>
              <a:t>TRADITIONAL PROTOCOL LOSSES (PAST 5 YEARS)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Cumulative 5-Year Loss: Over ₹1,40,000 Crore (~$19 Billion USD)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Delayed Rapid Intensification alerts (12–18 hour human analysis cycle)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Broad non-targeted evacuations causing mass civilian panic &amp; high OPEX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Lack of localized surge height calculations causing embankment failures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566160"/>
            <a:ext cx="5212080" cy="1737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050" b="1">
                <a:solidFill>
                  <a:srgbClr val="0D9488"/>
                </a:solidFill>
              </a:defRPr>
            </a:pPr>
            <a:r>
              <a:t>PREVENTABLE LOSSES WITH METEORA AI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Projected Annual Economic Savings: ₹15,000 – ₹25,000 Crore / Year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Sub-minute Rapid Intensification alerts flag Category jumps in real-time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City Landfall Danger Scoring scopes evacuations strictly to high-risk zones</a:t>
            </a:r>
          </a:p>
          <a:p>
            <a:pPr>
              <a:spcBef>
                <a:spcPts val="250"/>
              </a:spcBef>
              <a:defRPr sz="880">
                <a:solidFill>
                  <a:srgbClr val="0F172A"/>
                </a:solidFill>
              </a:defRPr>
            </a:pPr>
            <a:r>
              <a:t>• Direct storm surge height (meters) modeling guides embankment reinforcement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3429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850" b="1">
                <a:solidFill>
                  <a:srgbClr val="0066CC"/>
                </a:solidFill>
              </a:defRPr>
            </a:pPr>
            <a:r>
              <a:t>HUMAN LIVES &amp; MARITIME</a:t>
            </a:r>
          </a:p>
          <a:p>
            <a:pPr>
              <a:defRPr sz="1100" b="1">
                <a:solidFill>
                  <a:srgbClr val="0A2540"/>
                </a:solidFill>
              </a:defRPr>
            </a:pPr>
            <a:r>
              <a:t>90%+ Casualty Reduction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Zero offshore maritime fatalities by providing 72h gale-force wind boundary warnings preventing vessel departures.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5440680"/>
            <a:ext cx="3429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850" b="1">
                <a:solidFill>
                  <a:srgbClr val="0066CC"/>
                </a:solidFill>
              </a:defRPr>
            </a:pPr>
            <a:r>
              <a:t>AGRICULTURE &amp; CROPS</a:t>
            </a:r>
          </a:p>
          <a:p>
            <a:pPr>
              <a:defRPr sz="1100" b="1">
                <a:solidFill>
                  <a:srgbClr val="0A2540"/>
                </a:solidFill>
              </a:defRPr>
            </a:pPr>
            <a:r>
              <a:t>₹3,500+ Cr Saved Annually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Localized 36-48h arrival ETA window gives farmers actionable notice to harvest standing paddy &amp; secure livestock.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5440680"/>
            <a:ext cx="342900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850" b="1">
                <a:solidFill>
                  <a:srgbClr val="0066CC"/>
                </a:solidFill>
              </a:defRPr>
            </a:pPr>
            <a:r>
              <a:t>CRITICAL INFRASTRUCTURE</a:t>
            </a:r>
          </a:p>
          <a:p>
            <a:pPr>
              <a:defRPr sz="1100" b="1">
                <a:solidFill>
                  <a:srgbClr val="0A2540"/>
                </a:solidFill>
              </a:defRPr>
            </a:pPr>
            <a:r>
              <a:t>₹2,000+ Cr Grid Protection</a:t>
            </a:r>
          </a:p>
          <a:p>
            <a:pPr>
              <a:defRPr sz="780">
                <a:solidFill>
                  <a:srgbClr val="475569"/>
                </a:solidFill>
              </a:defRPr>
            </a:pPr>
            <a:r>
              <a:t>Proactive surge zoning enables scheduled power grid de-energization, preventing transformer blowouts &amp; salt damage.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66CC"/>
                </a:solidFill>
              </a:defRPr>
            </a:pPr>
            <a:r>
              <a:t>SCIENTIFIC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A2540"/>
                </a:solidFill>
              </a:defRPr>
            </a:pPr>
            <a:r>
              <a:t>Research Foundations, Datasets &amp; Authoritative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6/6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PEER-REVIEWED PAPERS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Dvorak, V. F. (1984)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Tropical Cyclone Intensity Analysis and Forecasting from Satellite Imagery. NOAA Technical Report NESDIS 11.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Selvameena, M., et al. (2022)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Tropical Cyclone Intensity Estimation Using INSAT-3D IR Images and Deep CNNs. IEEE Geoscience &amp; Remote Sensing Letters.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Pradhan, R., et al. (2018)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Tropical Cyclone Intensity Estimation Using Deep Convolutional Neural Networks. IEEE Trans. Image Processing.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Selvaraj, R. R., et al. (2020)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Visual Explanations from Deep Networks via Grad-CAM. International Journal of Computer Vision.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463040"/>
            <a:ext cx="34290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GOVERNMENT STANDARDS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IMD Technical Monograph (2021)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Cyclone Warning in India: Standard Operating Procedure (SOP). India Meteorological Department, Ministry of Earth Sciences.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WMO TCP Report No. 21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Global Guide to Tropical Cyclone Forecasting. World Meteorological Organization, Geneva.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RSMC New Delhi Reports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Annual Summary Reports on Tropical Cyclones Over the North Indian Ocean (2020–2024).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NDRF &amp; NDMA Guidelines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National Disaster Management Guidelines for Cyclone Risk Management, Govt. of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463040"/>
            <a:ext cx="342900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A2540"/>
                </a:solidFill>
              </a:defRPr>
            </a:pPr>
            <a:r>
              <a:t>DATASETS &amp; BENCHMARKS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ISRO MOSDAC Archive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INSAT-3D / INSAT-3DR / INSAT-3DS Imager L1B/1C HDF5 calibrated data across TIR-1, TIR-2, and Water Vapor.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NOAA IBTrACS v04r00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International Best Track Archive for Climate Stewardship ground truth (wind, pressure, track coordinates).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IMD Cyclone eAtlas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Historic cyclone tracks, landfall locations, and intensities in Bay of Bengal &amp; Arabian Sea (1891–present).</a:t>
            </a:r>
          </a:p>
          <a:p>
            <a:pPr>
              <a:spcBef>
                <a:spcPts val="700"/>
              </a:spcBef>
              <a:defRPr sz="950" b="1">
                <a:solidFill>
                  <a:srgbClr val="0F172A"/>
                </a:solidFill>
              </a:defRPr>
            </a:pPr>
            <a:r>
              <a:t>ECMWF / ERA5 Reanalysis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Atmospheric wind shear, temperature profiles, and sea surface temperatures (SST).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15000"/>
            <a:ext cx="10728655" cy="7772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>
              <a:defRPr sz="950" b="1">
                <a:solidFill>
                  <a:srgbClr val="0D9488"/>
                </a:solidFill>
              </a:defRPr>
            </a:pPr>
            <a:r>
              <a:t>PROTOTYPE COMPLIANCE &amp; RESEARCH INTEGRITY ASSURANCE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Project METEORA is strictly aligned with SIH26070 (Ministry of Earth Sciences / IMD). All training methodologies utilize verifiable open meteorological archives, physics-safe augmentations, and explainable neural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